
<file path=[Content_Types].xml><?xml version="1.0" encoding="utf-8"?>
<Types xmlns="http://schemas.openxmlformats.org/package/2006/content-types">
  <Default Extension="xml" ContentType="application/xml"/>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78" r:id="rId5"/>
    <p:sldId id="270" r:id="rId6"/>
    <p:sldId id="273" r:id="rId7"/>
    <p:sldId id="276" r:id="rId8"/>
    <p:sldId id="271" r:id="rId9"/>
    <p:sldId id="282" r:id="rId10"/>
    <p:sldId id="281" r:id="rId11"/>
    <p:sldId id="283" r:id="rId12"/>
    <p:sldId id="287" r:id="rId13"/>
    <p:sldId id="263" r:id="rId14"/>
    <p:sldId id="275" r:id="rId15"/>
    <p:sldId id="267" r:id="rId16"/>
    <p:sldId id="286" r:id="rId17"/>
    <p:sldId id="288" r:id="rId18"/>
  </p:sldIdLst>
  <p:sldSz cx="14630400" cy="8229600"/>
  <p:notesSz cx="8229600" cy="14630400"/>
  <p:embeddedFontLst>
    <p:embeddedFont>
      <p:font typeface="Calibri" panose="020F0502020204030204"/>
      <p:regular r:id="rId22"/>
      <p:bold r:id="rId23"/>
      <p:italic r:id="rId24"/>
      <p:boldItalic r:id="rId25"/>
    </p:embeddedFont>
    <p:embeddedFont>
      <p:font typeface="Outfit ExtraBold"/>
      <p:bold r:id="rId26"/>
    </p:embeddedFont>
    <p:embeddedFont>
      <p:font typeface="EB Garamond ExtraBold" panose="00000900000000000000"/>
      <p:bold r:id="rId27"/>
    </p:embeddedFont>
    <p:embeddedFont>
      <p:font typeface="EB Garamond" panose="00000500000000000000"/>
      <p:regular r:id="rId28"/>
      <p:bold r:id="rId29"/>
      <p:italic r:id="rId30"/>
      <p:boldItalic r:id="rId31"/>
    </p:embeddedFont>
    <p:embeddedFont>
      <p:font typeface="Arimo" panose="020B0604020202020204"/>
      <p:regular r:id="rId32"/>
    </p:embeddedFont>
    <p:embeddedFont>
      <p:font typeface="Calibri Light" panose="020F030202020403020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snapToGrid="0">
      <p:cViewPr varScale="1">
        <p:scale>
          <a:sx n="59" d="100"/>
          <a:sy n="59" d="100"/>
        </p:scale>
        <p:origin x="70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39" d="100"/>
          <a:sy n="39" d="100"/>
        </p:scale>
        <p:origin x="3566" y="8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customXml" Target="../customXml/item3.xml"/><Relationship Id="rId36" Type="http://schemas.openxmlformats.org/officeDocument/2006/relationships/customXml" Target="../customXml/item2.xml"/><Relationship Id="rId35" Type="http://schemas.openxmlformats.org/officeDocument/2006/relationships/customXml" Target="../customXml/item1.xml"/><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
        <p:cNvGrpSpPr/>
        <p:nvPr/>
      </p:nvGrpSpPr>
      <p:grpSpPr>
        <a:xfrm>
          <a:off x="0" y="0"/>
          <a:ext cx="0" cy="0"/>
          <a:chOff x="0" y="0"/>
          <a:chExt cx="0" cy="0"/>
        </a:xfrm>
      </p:grpSpPr>
      <p:sp>
        <p:nvSpPr>
          <p:cNvPr id="42" name="Google Shape;4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4" name="Google Shape;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8" name="Google Shape;6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0" name="Google Shape;110;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3" name="Google Shape;123;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2"/>
        <p:cNvGrpSpPr/>
        <p:nvPr/>
      </p:nvGrpSpPr>
      <p:grpSpPr>
        <a:xfrm>
          <a:off x="0" y="0"/>
          <a:ext cx="0" cy="0"/>
          <a:chOff x="0" y="0"/>
          <a:chExt cx="0" cy="0"/>
        </a:xfrm>
      </p:grpSpPr>
      <p:sp>
        <p:nvSpPr>
          <p:cNvPr id="153" name="Google Shape;15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5" name="Google Shape;155;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005840" y="2190750"/>
            <a:ext cx="6217920" cy="522160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7406640" y="2190750"/>
            <a:ext cx="6217920" cy="522160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endParaRPr lang="en-US"/>
          </a:p>
        </p:txBody>
      </p:sp>
      <p:sp>
        <p:nvSpPr>
          <p:cNvPr id="4" name="Content Placeholder 3"/>
          <p:cNvSpPr>
            <a:spLocks noGrp="1"/>
          </p:cNvSpPr>
          <p:nvPr>
            <p:ph sz="half" idx="2"/>
          </p:nvPr>
        </p:nvSpPr>
        <p:spPr>
          <a:xfrm>
            <a:off x="1007746" y="3006090"/>
            <a:ext cx="6189344" cy="442150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endParaRPr lang="en-US"/>
          </a:p>
        </p:txBody>
      </p:sp>
      <p:sp>
        <p:nvSpPr>
          <p:cNvPr id="6" name="Content Placeholder 5"/>
          <p:cNvSpPr>
            <a:spLocks noGrp="1"/>
          </p:cNvSpPr>
          <p:nvPr>
            <p:ph sz="quarter" idx="4"/>
          </p:nvPr>
        </p:nvSpPr>
        <p:spPr>
          <a:xfrm>
            <a:off x="7406640" y="3006090"/>
            <a:ext cx="6219826" cy="442150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D57F1E4F-1CFF-5643-939E-217C01CD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p:nvPr/>
        </p:nvSpPr>
        <p:spPr>
          <a:xfrm>
            <a:off x="-161925" y="114301"/>
            <a:ext cx="14954250" cy="4908202"/>
          </a:xfrm>
          <a:prstGeom prst="rect">
            <a:avLst/>
          </a:prstGeom>
          <a:noFill/>
          <a:ln>
            <a:noFill/>
          </a:ln>
        </p:spPr>
        <p:txBody>
          <a:bodyPr spcFirstLastPara="1" wrap="square" lIns="0" tIns="0" rIns="0" bIns="0" anchor="t" anchorCtr="0">
            <a:noAutofit/>
          </a:bodyPr>
          <a:lstStyle/>
          <a:p>
            <a:pPr lvl="0">
              <a:lnSpc>
                <a:spcPct val="124000"/>
              </a:lnSpc>
              <a:buClr>
                <a:srgbClr val="231971"/>
              </a:buClr>
              <a:buSzPts val="3900"/>
            </a:pPr>
            <a:r>
              <a:rPr lang="en-US" sz="3200" b="1" dirty="0">
                <a:latin typeface="Times New Roman" panose="02020603050405020304" pitchFamily="18" charset="0"/>
                <a:cs typeface="Times New Roman" panose="02020603050405020304" pitchFamily="18" charset="0"/>
                <a:sym typeface="Outfit ExtraBold"/>
              </a:rPr>
              <a:t>                    </a:t>
            </a:r>
            <a:endParaRPr lang="en-US" sz="3200" b="1" dirty="0">
              <a:latin typeface="Times New Roman" panose="02020603050405020304" pitchFamily="18" charset="0"/>
              <a:cs typeface="Times New Roman" panose="02020603050405020304" pitchFamily="18" charset="0"/>
              <a:sym typeface="Outfit ExtraBold"/>
            </a:endParaRPr>
          </a:p>
          <a:p>
            <a:pPr lvl="0">
              <a:lnSpc>
                <a:spcPct val="124000"/>
              </a:lnSpc>
              <a:buClr>
                <a:srgbClr val="231971"/>
              </a:buClr>
              <a:buSzPts val="3900"/>
            </a:pPr>
            <a:endParaRPr lang="en-US" sz="3200" b="1" dirty="0">
              <a:latin typeface="Times New Roman" panose="02020603050405020304" pitchFamily="18" charset="0"/>
              <a:cs typeface="Times New Roman" panose="02020603050405020304" pitchFamily="18" charset="0"/>
              <a:sym typeface="Outfit ExtraBold"/>
            </a:endParaRPr>
          </a:p>
          <a:p>
            <a:pPr lvl="0">
              <a:lnSpc>
                <a:spcPct val="124000"/>
              </a:lnSpc>
              <a:buClr>
                <a:srgbClr val="231971"/>
              </a:buClr>
              <a:buSzPts val="3900"/>
            </a:pPr>
            <a:r>
              <a:rPr lang="en-US" sz="3200" b="1" dirty="0">
                <a:latin typeface="Times New Roman" panose="02020603050405020304" pitchFamily="18" charset="0"/>
                <a:cs typeface="Times New Roman" panose="02020603050405020304" pitchFamily="18" charset="0"/>
                <a:sym typeface="Outfit ExtraBold"/>
              </a:rPr>
              <a:t>                       </a:t>
            </a:r>
            <a:r>
              <a:rPr lang="en-US" sz="3000" dirty="0">
                <a:latin typeface="Times New Roman" panose="02020603050405020304" pitchFamily="18" charset="0"/>
                <a:cs typeface="Times New Roman" panose="02020603050405020304" pitchFamily="18" charset="0"/>
                <a:sym typeface="Outfit ExtraBold"/>
              </a:rPr>
              <a:t>University College of Engineering BIT Campus Tiruchirappalli.</a:t>
            </a:r>
            <a:endParaRPr lang="en-US" sz="3000" dirty="0">
              <a:latin typeface="Times New Roman" panose="02020603050405020304" pitchFamily="18" charset="0"/>
              <a:cs typeface="Times New Roman" panose="02020603050405020304" pitchFamily="18" charset="0"/>
              <a:sym typeface="Outfit ExtraBold"/>
            </a:endParaRPr>
          </a:p>
          <a:p>
            <a:pPr lvl="0">
              <a:lnSpc>
                <a:spcPct val="124000"/>
              </a:lnSpc>
              <a:buClr>
                <a:srgbClr val="231971"/>
              </a:buClr>
              <a:buSzPts val="3900"/>
            </a:pPr>
            <a:endParaRPr lang="en-US" sz="3000" b="1" i="0" u="none" strike="noStrike" cap="none" dirty="0">
              <a:latin typeface="Times New Roman" panose="02020603050405020304" pitchFamily="18" charset="0"/>
              <a:cs typeface="Times New Roman" panose="02020603050405020304" pitchFamily="18" charset="0"/>
              <a:sym typeface="Outfit ExtraBold"/>
            </a:endParaRPr>
          </a:p>
          <a:p>
            <a:pPr lvl="0">
              <a:lnSpc>
                <a:spcPct val="124000"/>
              </a:lnSpc>
              <a:buClr>
                <a:srgbClr val="231971"/>
              </a:buClr>
              <a:buSzPts val="3900"/>
            </a:pPr>
            <a:endParaRPr lang="en-US" sz="3200" b="1" i="0" u="none" strike="noStrike" cap="none" dirty="0">
              <a:latin typeface="Times New Roman" panose="02020603050405020304" pitchFamily="18" charset="0"/>
              <a:cs typeface="Times New Roman" panose="02020603050405020304" pitchFamily="18" charset="0"/>
              <a:sym typeface="Outfit ExtraBold"/>
            </a:endParaRPr>
          </a:p>
          <a:p>
            <a:pPr lvl="0" algn="ctr">
              <a:lnSpc>
                <a:spcPct val="124000"/>
              </a:lnSpc>
              <a:buClr>
                <a:srgbClr val="231971"/>
              </a:buClr>
              <a:buSzPts val="3900"/>
            </a:pPr>
            <a:r>
              <a:rPr lang="en-US" sz="4400" b="1" dirty="0">
                <a:latin typeface="Times New Roman" panose="02020603050405020304" pitchFamily="18" charset="0"/>
                <a:cs typeface="Times New Roman" panose="02020603050405020304" pitchFamily="18" charset="0"/>
              </a:rPr>
              <a:t>Real Time Vision Based Anti-Poaching Detection System </a:t>
            </a:r>
            <a:endParaRPr lang="en-US" sz="440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440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lang="en-US" sz="3150" b="1" dirty="0">
              <a:solidFill>
                <a:srgbClr val="231971"/>
              </a:solidFill>
              <a:latin typeface="Times New Roman" panose="02020603050405020304" pitchFamily="18" charset="0"/>
              <a:cs typeface="Times New Roman" panose="02020603050405020304" pitchFamily="18" charset="0"/>
              <a:sym typeface="Outfit ExtraBold"/>
            </a:endParaRPr>
          </a:p>
          <a:p>
            <a:pPr marL="0" marR="0" lvl="0" indent="0" algn="l" rtl="0">
              <a:lnSpc>
                <a:spcPct val="124000"/>
              </a:lnSpc>
              <a:spcBef>
                <a:spcPts val="0"/>
              </a:spcBef>
              <a:spcAft>
                <a:spcPts val="0"/>
              </a:spcAft>
              <a:buClr>
                <a:srgbClr val="231971"/>
              </a:buClr>
              <a:buSzPts val="3900"/>
              <a:buFont typeface="Outfit ExtraBold"/>
              <a:buNone/>
            </a:pPr>
            <a:endParaRPr sz="315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48" name="Google Shape;48;p1"/>
          <p:cNvSpPr txBox="1"/>
          <p:nvPr/>
        </p:nvSpPr>
        <p:spPr>
          <a:xfrm>
            <a:off x="9161928" y="4838700"/>
            <a:ext cx="4912659" cy="2052918"/>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3000" b="1" dirty="0">
                <a:solidFill>
                  <a:srgbClr val="351C75"/>
                </a:solidFill>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              </a:t>
            </a:r>
            <a:r>
              <a:rPr lang="en-US" sz="2400" dirty="0">
                <a:solidFill>
                  <a:schemeClr val="tx1"/>
                </a:solidFill>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GUIDED BY</a:t>
            </a:r>
            <a:endPar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r" rtl="0">
              <a:spcBef>
                <a:spcPts val="0"/>
              </a:spcBef>
              <a:spcAft>
                <a:spcPts val="0"/>
              </a:spcAft>
              <a:buNone/>
            </a:pPr>
            <a:r>
              <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Dr. C. USHARANI</a:t>
            </a:r>
            <a:endPar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r" rtl="0">
              <a:spcBef>
                <a:spcPts val="0"/>
              </a:spcBef>
              <a:spcAft>
                <a:spcPts val="0"/>
              </a:spcAft>
              <a:buNone/>
            </a:pPr>
            <a:r>
              <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Department of Computer </a:t>
            </a:r>
            <a:endPar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r" rtl="0">
              <a:spcBef>
                <a:spcPts val="0"/>
              </a:spcBef>
              <a:spcAft>
                <a:spcPts val="0"/>
              </a:spcAft>
              <a:buNone/>
            </a:pPr>
            <a:r>
              <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Science and Engineering</a:t>
            </a:r>
            <a:endParaRPr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p:txBody>
      </p:sp>
      <p:sp>
        <p:nvSpPr>
          <p:cNvPr id="4" name="TextBox 3"/>
          <p:cNvSpPr txBox="1"/>
          <p:nvPr/>
        </p:nvSpPr>
        <p:spPr>
          <a:xfrm>
            <a:off x="555813" y="4838700"/>
            <a:ext cx="7298230" cy="1661993"/>
          </a:xfrm>
          <a:prstGeom prst="rect">
            <a:avLst/>
          </a:prstGeom>
          <a:noFill/>
        </p:spPr>
        <p:txBody>
          <a:bodyPr wrap="square">
            <a:spAutoFit/>
          </a:bodyPr>
          <a:lstStyle/>
          <a:p>
            <a:pPr marL="0" lvl="0" indent="0" algn="l" rtl="0">
              <a:spcBef>
                <a:spcPts val="0"/>
              </a:spcBef>
              <a:spcAft>
                <a:spcPts val="0"/>
              </a:spcAft>
              <a:buNone/>
            </a:pPr>
            <a:r>
              <a:rPr lang="en-US" sz="2400" dirty="0">
                <a:solidFill>
                  <a:schemeClr val="tx1"/>
                </a:solidFill>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PRESENTED BY</a:t>
            </a:r>
            <a:endParaRPr lang="en-US" sz="2400" dirty="0">
              <a:solidFill>
                <a:schemeClr val="tx1"/>
              </a:solidFill>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l" rtl="0">
              <a:spcBef>
                <a:spcPts val="0"/>
              </a:spcBef>
              <a:spcAft>
                <a:spcPts val="0"/>
              </a:spcAft>
              <a:buNone/>
            </a:pPr>
            <a:endParaRPr lang="en-US" sz="3000" b="1" dirty="0">
              <a:solidFill>
                <a:schemeClr val="tx1"/>
              </a:solidFill>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l" rtl="0">
              <a:spcBef>
                <a:spcPts val="0"/>
              </a:spcBef>
              <a:spcAft>
                <a:spcPts val="0"/>
              </a:spcAft>
              <a:buNone/>
            </a:pPr>
            <a:r>
              <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Mohamed Farhaan N (810022104076)</a:t>
            </a:r>
            <a:endPar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endParaRPr>
          </a:p>
          <a:p>
            <a:pPr marL="0" lvl="0" indent="0" algn="l" rtl="0">
              <a:spcBef>
                <a:spcPts val="0"/>
              </a:spcBef>
              <a:spcAft>
                <a:spcPts val="0"/>
              </a:spcAft>
              <a:buNone/>
            </a:pPr>
            <a:r>
              <a:rPr lang="en-US" sz="2400" dirty="0">
                <a:latin typeface="Times New Roman" panose="02020603050405020304" pitchFamily="18" charset="0"/>
                <a:ea typeface="EB Garamond ExtraBold" panose="00000900000000000000"/>
                <a:cs typeface="Times New Roman" panose="02020603050405020304" pitchFamily="18" charset="0"/>
                <a:sym typeface="EB Garamond ExtraBold" panose="00000900000000000000"/>
              </a:rPr>
              <a:t>Karthickeyan T (810022104113)</a:t>
            </a:r>
            <a:endParaRPr lang="en-US" sz="2400" dirty="0">
              <a:latin typeface="EB Garamond ExtraBold" panose="00000900000000000000"/>
              <a:ea typeface="EB Garamond ExtraBold" panose="00000900000000000000"/>
              <a:cs typeface="EB Garamond ExtraBold" panose="00000900000000000000"/>
              <a:sym typeface="EB Garamond ExtraBold" panose="00000900000000000000"/>
            </a:endParaRPr>
          </a:p>
        </p:txBody>
      </p:sp>
      <p:pic>
        <p:nvPicPr>
          <p:cNvPr id="3" name="Picture 2"/>
          <p:cNvPicPr>
            <a:picLocks noChangeAspect="1"/>
          </p:cNvPicPr>
          <p:nvPr/>
        </p:nvPicPr>
        <p:blipFill>
          <a:blip r:embed="rId1"/>
          <a:stretch>
            <a:fillRect/>
          </a:stretch>
        </p:blipFill>
        <p:spPr>
          <a:xfrm>
            <a:off x="1" y="340311"/>
            <a:ext cx="2171700" cy="20968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683091"/>
            <a:ext cx="13563600" cy="6709529"/>
          </a:xfrm>
          <a:prstGeom prst="rect">
            <a:avLst/>
          </a:prstGeom>
          <a:noFill/>
        </p:spPr>
        <p:txBody>
          <a:bodyPr wrap="square">
            <a:spAutoFit/>
          </a:bodyPr>
          <a:lstStyle/>
          <a:p>
            <a:pPr>
              <a:buSzPts val="1400"/>
            </a:pPr>
            <a:r>
              <a:rPr lang="en-US" sz="4000" b="1" i="0" u="none" strike="noStrike" cap="none" dirty="0">
                <a:latin typeface="Times New Roman" panose="02020603050405020304" pitchFamily="18" charset="0"/>
                <a:ea typeface="EB Garamond" panose="00000500000000000000"/>
                <a:cs typeface="Times New Roman" panose="02020603050405020304" pitchFamily="18" charset="0"/>
                <a:sym typeface="EB Garamond" panose="00000500000000000000"/>
              </a:rPr>
              <a:t>AIM</a:t>
            </a:r>
            <a:endPar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pPr>
              <a:buSzPts val="1400"/>
            </a:pPr>
            <a:endParaRPr lang="en-US" sz="4000"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r>
              <a:rPr lang="en-US" sz="3200" dirty="0">
                <a:latin typeface="Times New Roman" panose="02020603050405020304" pitchFamily="18" charset="0"/>
                <a:cs typeface="Times New Roman" panose="02020603050405020304" pitchFamily="18" charset="0"/>
              </a:rPr>
              <a:t>To develop a vision-based anti-poaching detection system using a custom CNN to automatically identify human presence in forest areas from video footage.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system distinguishes humans from animals and generates alerts to support automated wildlife monitoring with pretrained models.</a:t>
            </a:r>
            <a:endParaRPr lang="en-US" sz="3200" dirty="0">
              <a:latin typeface="Times New Roman" panose="02020603050405020304" pitchFamily="18" charset="0"/>
              <a:cs typeface="Times New Roman" panose="02020603050405020304" pitchFamily="18" charset="0"/>
            </a:endParaRPr>
          </a:p>
          <a:p>
            <a:pPr algn="just"/>
            <a:endParaRPr lang="en-US" sz="3200" dirty="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Need for System</a:t>
            </a:r>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Automated monitoring</a:t>
            </a:r>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Real-time detection</a:t>
            </a:r>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Reduced manual effort</a:t>
            </a:r>
            <a:endParaRPr lang="en-US" sz="30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Faster response</a:t>
            </a:r>
            <a:endParaRPr lang="en-US" sz="3000" dirty="0">
              <a:latin typeface="Times New Roman" panose="02020603050405020304" pitchFamily="18" charset="0"/>
              <a:cs typeface="Times New Roman" panose="02020603050405020304" pitchFamily="18" charset="0"/>
            </a:endParaRPr>
          </a:p>
          <a:p>
            <a:pPr>
              <a:buSzPts val="1400"/>
            </a:pPr>
            <a:endParaRPr lang="en-US" sz="4000"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3"/>
          <p:cNvSpPr/>
          <p:nvPr/>
        </p:nvSpPr>
        <p:spPr>
          <a:xfrm>
            <a:off x="669472" y="802936"/>
            <a:ext cx="13438414" cy="82864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31971"/>
              </a:buClr>
              <a:buSzPts val="3550"/>
              <a:buFont typeface="Outfit ExtraBold"/>
              <a:buNone/>
            </a:pPr>
            <a:r>
              <a:rPr lang="en-US" sz="4000" b="1" dirty="0">
                <a:latin typeface="Times New Roman" panose="02020603050405020304" pitchFamily="18" charset="0"/>
                <a:ea typeface="Outfit ExtraBold"/>
                <a:cs typeface="Times New Roman" panose="02020603050405020304" pitchFamily="18" charset="0"/>
                <a:sym typeface="Outfit ExtraBold"/>
              </a:rPr>
              <a:t>PROBLEM STATEMENT</a:t>
            </a:r>
            <a:endParaRPr lang="en-US" sz="4000" b="1" dirty="0">
              <a:latin typeface="Times New Roman" panose="02020603050405020304" pitchFamily="18" charset="0"/>
              <a:ea typeface="Outfit ExtraBold"/>
              <a:cs typeface="Times New Roman" panose="02020603050405020304" pitchFamily="18" charset="0"/>
              <a:sym typeface="Outfit ExtraBold"/>
            </a:endParaRPr>
          </a:p>
          <a:p>
            <a:pPr marL="0" marR="0" lvl="0" indent="0" algn="l" rtl="0">
              <a:lnSpc>
                <a:spcPct val="125000"/>
              </a:lnSpc>
              <a:spcBef>
                <a:spcPts val="0"/>
              </a:spcBef>
              <a:spcAft>
                <a:spcPts val="0"/>
              </a:spcAft>
              <a:buClr>
                <a:srgbClr val="231971"/>
              </a:buClr>
              <a:buSzPts val="3550"/>
              <a:buFont typeface="Outfit ExtraBold"/>
              <a:buNone/>
            </a:pPr>
            <a:endParaRPr lang="en-US" sz="3200" b="1" i="0" u="none" strike="noStrike" cap="none" dirty="0">
              <a:solidFill>
                <a:srgbClr val="231971"/>
              </a:solidFill>
              <a:latin typeface="Times New Roman" panose="02020603050405020304" pitchFamily="18" charset="0"/>
              <a:cs typeface="Times New Roman" panose="02020603050405020304" pitchFamily="18" charset="0"/>
              <a:sym typeface="Outfit ExtraBold"/>
            </a:endParaRPr>
          </a:p>
          <a:p>
            <a:r>
              <a:rPr lang="en-US" sz="3200" dirty="0">
                <a:latin typeface="Times New Roman" panose="02020603050405020304" pitchFamily="18" charset="0"/>
                <a:cs typeface="Times New Roman" panose="02020603050405020304" pitchFamily="18" charset="0"/>
              </a:rPr>
              <a:t>Wildlife poaching is a major threat to biodiversity and endangered species. Forest monitoring is mostly done manually, which has several challenges:</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sz="3200" dirty="0">
                <a:latin typeface="Times New Roman" panose="02020603050405020304" pitchFamily="18" charset="0"/>
                <a:cs typeface="Times New Roman" panose="02020603050405020304" pitchFamily="18" charset="0"/>
              </a:rPr>
              <a:t>Large forest areas are difficult to monitor continuously</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sz="3200" dirty="0">
                <a:latin typeface="Times New Roman" panose="02020603050405020304" pitchFamily="18" charset="0"/>
                <a:cs typeface="Times New Roman" panose="02020603050405020304" pitchFamily="18" charset="0"/>
              </a:rPr>
              <a:t>Limited forest guards and patrol resources</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sz="3200" dirty="0">
                <a:latin typeface="Times New Roman" panose="02020603050405020304" pitchFamily="18" charset="0"/>
                <a:cs typeface="Times New Roman" panose="02020603050405020304" pitchFamily="18" charset="0"/>
              </a:rPr>
              <a:t>Delayed detection of illegal human intrusion</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sz="3200" dirty="0">
                <a:latin typeface="Times New Roman" panose="02020603050405020304" pitchFamily="18" charset="0"/>
                <a:cs typeface="Times New Roman" panose="02020603050405020304" pitchFamily="18" charset="0"/>
              </a:rPr>
              <a:t>Lack of automated real-time surveillance systems</a:t>
            </a:r>
            <a:endParaRPr lang="en-US" sz="3200" dirty="0">
              <a:latin typeface="Times New Roman" panose="02020603050405020304" pitchFamily="18" charset="0"/>
              <a:cs typeface="Times New Roman" panose="02020603050405020304" pitchFamily="18" charset="0"/>
            </a:endParaRPr>
          </a:p>
          <a:p>
            <a:pPr marL="514350" indent="-514350">
              <a:buFont typeface="+mj-lt"/>
              <a:buAutoNum type="arabicParenR"/>
            </a:pPr>
            <a:r>
              <a:rPr lang="en-US" sz="3200" dirty="0">
                <a:latin typeface="Times New Roman" panose="02020603050405020304" pitchFamily="18" charset="0"/>
                <a:cs typeface="Times New Roman" panose="02020603050405020304" pitchFamily="18" charset="0"/>
              </a:rPr>
              <a:t>Difficulty distinguishing humans from animals in video feeds</a:t>
            </a:r>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The absence of intelligent monitoring systems results in delayed response and increased wildlife crime.</a:t>
            </a:r>
            <a:endParaRPr lang="en-US" sz="3200" dirty="0">
              <a:latin typeface="Times New Roman" panose="02020603050405020304" pitchFamily="18" charset="0"/>
              <a:cs typeface="Times New Roman" panose="02020603050405020304" pitchFamily="18" charset="0"/>
            </a:endParaRPr>
          </a:p>
          <a:p>
            <a:pPr marL="0" marR="0" lvl="0" indent="0" algn="l" rtl="0">
              <a:lnSpc>
                <a:spcPct val="125000"/>
              </a:lnSpc>
              <a:spcBef>
                <a:spcPts val="0"/>
              </a:spcBef>
              <a:spcAft>
                <a:spcPts val="0"/>
              </a:spcAft>
              <a:buClr>
                <a:srgbClr val="231971"/>
              </a:buClr>
              <a:buSzPts val="3550"/>
              <a:buFont typeface="Outfit ExtraBold"/>
              <a:buNone/>
            </a:pPr>
            <a:endParaRPr lang="en-US" sz="1600" b="0"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76" name="Google Shape;76;p3"/>
          <p:cNvSpPr/>
          <p:nvPr/>
        </p:nvSpPr>
        <p:spPr>
          <a:xfrm>
            <a:off x="446118" y="1877722"/>
            <a:ext cx="13225063" cy="5548942"/>
          </a:xfrm>
          <a:prstGeom prst="rect">
            <a:avLst/>
          </a:prstGeom>
          <a:noFill/>
          <a:ln>
            <a:noFill/>
          </a:ln>
        </p:spPr>
        <p:txBody>
          <a:bodyPr spcFirstLastPara="1" wrap="square" lIns="0" tIns="0" rIns="0" bIns="0" anchor="t" anchorCtr="0">
            <a:noAutofit/>
          </a:bodyPr>
          <a:lstStyle/>
          <a:p>
            <a:pPr marL="0" marR="0" lvl="0" indent="0" algn="just" rtl="0">
              <a:lnSpc>
                <a:spcPct val="161000"/>
              </a:lnSpc>
              <a:spcBef>
                <a:spcPts val="0"/>
              </a:spcBef>
              <a:spcAft>
                <a:spcPts val="0"/>
              </a:spcAft>
              <a:buClr>
                <a:srgbClr val="2A2742"/>
              </a:buClr>
              <a:buSzPts val="1400"/>
              <a:buFont typeface="Arimo" panose="020B0604020202020204"/>
              <a:buNone/>
            </a:pPr>
            <a:endParaRPr sz="1700" b="0" i="0" u="none" strike="noStrike" cap="none" dirty="0">
              <a:solidFill>
                <a:srgbClr val="000000"/>
              </a:solidFill>
              <a:latin typeface="EB Garamond" panose="00000500000000000000"/>
              <a:ea typeface="EB Garamond" panose="00000500000000000000"/>
              <a:cs typeface="EB Garamond" panose="00000500000000000000"/>
              <a:sym typeface="EB Garamond" panose="00000500000000000000"/>
            </a:endParaRPr>
          </a:p>
        </p:txBody>
      </p:sp>
      <p:sp>
        <p:nvSpPr>
          <p:cNvPr id="4" name="TextBox 3"/>
          <p:cNvSpPr txBox="1"/>
          <p:nvPr/>
        </p:nvSpPr>
        <p:spPr>
          <a:xfrm>
            <a:off x="446118" y="5551659"/>
            <a:ext cx="13225063" cy="800219"/>
          </a:xfrm>
          <a:prstGeom prst="rect">
            <a:avLst/>
          </a:prstGeom>
          <a:noFill/>
        </p:spPr>
        <p:txBody>
          <a:bodyPr wrap="square">
            <a:spAutoFit/>
          </a:bodyPr>
          <a:lstStyle/>
          <a:p>
            <a:endParaRPr lang="en-IN" sz="2800"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50" y="939284"/>
            <a:ext cx="11781064" cy="5816977"/>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OBJECTIVES</a:t>
            </a:r>
            <a:endPar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4000"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r>
              <a:rPr lang="en-US" sz="3600" dirty="0">
                <a:latin typeface="Times New Roman" panose="02020603050405020304" pitchFamily="18" charset="0"/>
                <a:cs typeface="Times New Roman" panose="02020603050405020304" pitchFamily="18" charset="0"/>
              </a:rPr>
              <a:t>The objectives of the proposed system are:</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develop a custom CNN model for human detection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differentiate humans from animals in forest footage</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provide real-time alert notifications</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reduce wildlife poaching activities</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automate forest surveillance without pretrained models</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 improve response time of forest authorities</a:t>
            </a:r>
            <a:endParaRPr lang="en-US" sz="3600"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rgbClr val="000000"/>
              </a:buClr>
              <a:buSzPts val="1400"/>
              <a:buFont typeface="Arial" panose="020B0604020202020204"/>
              <a:buNone/>
            </a:pPr>
            <a:endParaRPr lang="en-US" sz="4000" b="1" i="0" u="none" strike="noStrike" cap="none"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09612" y="1034534"/>
            <a:ext cx="7315200" cy="707886"/>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EXISTING SYSTEM</a:t>
            </a:r>
            <a:endParaRPr lang="en-IN" sz="4000" dirty="0"/>
          </a:p>
        </p:txBody>
      </p:sp>
      <p:sp>
        <p:nvSpPr>
          <p:cNvPr id="5" name="TextBox 4"/>
          <p:cNvSpPr txBox="1"/>
          <p:nvPr/>
        </p:nvSpPr>
        <p:spPr>
          <a:xfrm>
            <a:off x="709612" y="1989614"/>
            <a:ext cx="12810445" cy="5570756"/>
          </a:xfrm>
          <a:prstGeom prst="rect">
            <a:avLst/>
          </a:prstGeom>
          <a:noFill/>
        </p:spPr>
        <p:txBody>
          <a:bodyPr wrap="square">
            <a:spAutoFit/>
          </a:bodyPr>
          <a:lstStyle/>
          <a:p>
            <a:r>
              <a:rPr lang="en-US" sz="3600" b="1" dirty="0">
                <a:latin typeface="Times New Roman" panose="02020603050405020304" pitchFamily="18" charset="0"/>
                <a:cs typeface="Times New Roman" panose="02020603050405020304" pitchFamily="18" charset="0"/>
              </a:rPr>
              <a:t>M-</a:t>
            </a:r>
            <a:r>
              <a:rPr lang="en-US" sz="3600" b="1" dirty="0" err="1">
                <a:latin typeface="Times New Roman" panose="02020603050405020304" pitchFamily="18" charset="0"/>
                <a:cs typeface="Times New Roman" panose="02020603050405020304" pitchFamily="18" charset="0"/>
              </a:rPr>
              <a:t>STrIPES</a:t>
            </a:r>
            <a:r>
              <a:rPr lang="en-US" sz="3600" b="1" dirty="0">
                <a:latin typeface="Times New Roman" panose="02020603050405020304" pitchFamily="18" charset="0"/>
                <a:cs typeface="Times New Roman" panose="02020603050405020304" pitchFamily="18" charset="0"/>
              </a:rPr>
              <a:t> (Monitoring System for Tigers)</a:t>
            </a:r>
            <a:endParaRPr lang="en-US" sz="3600" b="1" dirty="0">
              <a:latin typeface="Times New Roman" panose="02020603050405020304" pitchFamily="18" charset="0"/>
              <a:cs typeface="Times New Roman" panose="02020603050405020304" pitchFamily="18" charset="0"/>
            </a:endParaRPr>
          </a:p>
          <a:p>
            <a:r>
              <a:rPr lang="en-US" sz="3500" dirty="0">
                <a:latin typeface="Times New Roman" panose="02020603050405020304" pitchFamily="18" charset="0"/>
                <a:cs typeface="Times New Roman" panose="02020603050405020304" pitchFamily="18" charset="0"/>
              </a:rPr>
              <a:t>M-</a:t>
            </a:r>
            <a:r>
              <a:rPr lang="en-US" sz="3500" dirty="0" err="1">
                <a:latin typeface="Times New Roman" panose="02020603050405020304" pitchFamily="18" charset="0"/>
                <a:cs typeface="Times New Roman" panose="02020603050405020304" pitchFamily="18" charset="0"/>
              </a:rPr>
              <a:t>STrIPES</a:t>
            </a:r>
            <a:r>
              <a:rPr lang="en-US" sz="3500" dirty="0">
                <a:latin typeface="Times New Roman" panose="02020603050405020304" pitchFamily="18" charset="0"/>
                <a:cs typeface="Times New Roman" panose="02020603050405020304" pitchFamily="18" charset="0"/>
              </a:rPr>
              <a:t> is a GPS-based patrol and ecological monitoring system developed by the National Tiger Conservation Authority (NTCA), Government of India</a:t>
            </a:r>
            <a:r>
              <a:rPr lang="en-US" sz="3600" dirty="0"/>
              <a:t>.</a:t>
            </a:r>
            <a:endParaRPr lang="en-US" sz="3600" dirty="0"/>
          </a:p>
          <a:p>
            <a:r>
              <a:rPr lang="en-US" sz="3600" dirty="0">
                <a:latin typeface="Times New Roman" panose="02020603050405020304" pitchFamily="18" charset="0"/>
                <a:cs typeface="Times New Roman" panose="02020603050405020304" pitchFamily="18" charset="0"/>
              </a:rPr>
              <a:t>It is currently used in many Indian tiger reserves for:</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Recording patrol routes using GPS-enabled devices</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Monitoring tiger movement and habitat conditions</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Collecting ecological and field data</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Tracking wildlife crime incidents</a:t>
            </a:r>
            <a:endParaRPr lang="en-US" sz="3600"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p:nvPr/>
        </p:nvSpPr>
        <p:spPr>
          <a:xfrm>
            <a:off x="979715" y="190718"/>
            <a:ext cx="10147960" cy="1969740"/>
          </a:xfrm>
          <a:prstGeom prst="rect">
            <a:avLst/>
          </a:prstGeom>
          <a:noFill/>
          <a:ln>
            <a:noFill/>
          </a:ln>
        </p:spPr>
        <p:txBody>
          <a:bodyPr spcFirstLastPara="1" wrap="square" lIns="91425" tIns="91425" rIns="91425" bIns="91425" anchor="t" anchorCtr="0">
            <a:spAutoFit/>
          </a:bodyPr>
          <a:lstStyle/>
          <a:p>
            <a:pPr>
              <a:buSzPts val="1400"/>
            </a:pPr>
            <a:endPar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pPr>
              <a:buSzPts val="1400"/>
            </a:pPr>
            <a:r>
              <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LIMITATIONS OF EXISTING SYSTEM</a:t>
            </a:r>
            <a:endPar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pPr>
              <a:buSzPts val="1400"/>
            </a:pPr>
            <a:r>
              <a:rPr lang="en-US" sz="3600" dirty="0">
                <a:latin typeface="Times New Roman" panose="02020603050405020304" pitchFamily="18" charset="0"/>
                <a:cs typeface="Times New Roman" panose="02020603050405020304" pitchFamily="18" charset="0"/>
              </a:rPr>
              <a:t> </a:t>
            </a:r>
            <a:endParaRPr lang="en-US" sz="3800" dirty="0">
              <a:latin typeface="Times New Roman" panose="02020603050405020304" pitchFamily="18" charset="0"/>
              <a:cs typeface="Times New Roman" panose="02020603050405020304" pitchFamily="18" charset="0"/>
            </a:endParaRPr>
          </a:p>
        </p:txBody>
      </p:sp>
      <p:sp>
        <p:nvSpPr>
          <p:cNvPr id="10" name="Rectangle 8"/>
          <p:cNvSpPr>
            <a:spLocks noChangeArrowheads="1"/>
          </p:cNvSpPr>
          <p:nvPr/>
        </p:nvSpPr>
        <p:spPr bwMode="auto">
          <a:xfrm>
            <a:off x="979715" y="1724068"/>
            <a:ext cx="1035071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r>
              <a:rPr lang="en-US" sz="3600" dirty="0">
                <a:latin typeface="Times New Roman" panose="02020603050405020304" pitchFamily="18" charset="0"/>
                <a:cs typeface="Times New Roman" panose="02020603050405020304" pitchFamily="18" charset="0"/>
              </a:rPr>
              <a:t>Although M-</a:t>
            </a:r>
            <a:r>
              <a:rPr lang="en-US" sz="3600" dirty="0" err="1">
                <a:latin typeface="Times New Roman" panose="02020603050405020304" pitchFamily="18" charset="0"/>
                <a:cs typeface="Times New Roman" panose="02020603050405020304" pitchFamily="18" charset="0"/>
              </a:rPr>
              <a:t>STrIPES</a:t>
            </a:r>
            <a:r>
              <a:rPr lang="en-US" sz="3600" dirty="0">
                <a:latin typeface="Times New Roman" panose="02020603050405020304" pitchFamily="18" charset="0"/>
                <a:cs typeface="Times New Roman" panose="02020603050405020304" pitchFamily="18" charset="0"/>
              </a:rPr>
              <a:t> improves patrol documentation, </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it has several limitations:</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No real-time human intrusion detection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Does not automatically analyze live video footage</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No AI-based human vs animal classification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Detection depends on physical patrol presence</a:t>
            </a:r>
            <a:endParaRPr lang="en-US" sz="3600" dirty="0">
              <a:latin typeface="Times New Roman" panose="02020603050405020304" pitchFamily="18" charset="0"/>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0574" y="713869"/>
            <a:ext cx="13592175" cy="6754495"/>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PROPOSED SYSTEM</a:t>
            </a:r>
            <a:endPar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IN"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r>
              <a:rPr lang="en-US" sz="3500" dirty="0">
                <a:latin typeface="Times New Roman" panose="02020603050405020304" pitchFamily="18" charset="0"/>
                <a:cs typeface="Times New Roman" panose="02020603050405020304" pitchFamily="18" charset="0"/>
              </a:rPr>
              <a:t>The proposed system is a Vision-Based</a:t>
            </a:r>
            <a:r>
              <a:rPr lang="en-GB" altLang="en-US" sz="3500" dirty="0">
                <a:latin typeface="Times New Roman" panose="02020603050405020304" pitchFamily="18" charset="0"/>
                <a:cs typeface="Times New Roman" panose="02020603050405020304" pitchFamily="18" charset="0"/>
              </a:rPr>
              <a:t>f</a:t>
            </a:r>
            <a:r>
              <a:rPr lang="en-US" sz="3500" dirty="0">
                <a:latin typeface="Times New Roman" panose="02020603050405020304" pitchFamily="18" charset="0"/>
                <a:cs typeface="Times New Roman" panose="02020603050405020304" pitchFamily="18" charset="0"/>
              </a:rPr>
              <a:t> Anti-Poaching Detection System that uses a custom Convolutional Neural Network (CNN) model to detect human presence in forest areas.</a:t>
            </a:r>
            <a:endParaRPr lang="en-US" sz="3500"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Key Features:</a:t>
            </a:r>
            <a:endParaRPr lang="en-US" sz="3600" b="1"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Real-time human detection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Human vs Animal classification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Automated alert generation</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Custom-built CNN model</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Continuous surveillance support</a:t>
            </a:r>
            <a:endParaRPr lang="en-US"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Scalable monitoring system</a:t>
            </a:r>
            <a:endParaRPr lang="en-US" sz="36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199" y="261648"/>
            <a:ext cx="7309757" cy="707886"/>
          </a:xfrm>
          <a:prstGeom prst="rect">
            <a:avLst/>
          </a:prstGeom>
          <a:noFill/>
        </p:spPr>
        <p:txBody>
          <a:bodyPr wrap="square">
            <a:spAutoFit/>
          </a:bodyPr>
          <a:lstStyle/>
          <a:p>
            <a:r>
              <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SYSTEM ARCHITECTURE</a:t>
            </a:r>
            <a:endPar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p:txBody>
      </p:sp>
      <p:pic>
        <p:nvPicPr>
          <p:cNvPr id="2" name="Picture 1"/>
          <p:cNvPicPr>
            <a:picLocks noChangeAspect="1"/>
          </p:cNvPicPr>
          <p:nvPr/>
        </p:nvPicPr>
        <p:blipFill>
          <a:blip r:embed="rId1"/>
          <a:stretch>
            <a:fillRect/>
          </a:stretch>
        </p:blipFill>
        <p:spPr>
          <a:xfrm>
            <a:off x="1894114" y="1066409"/>
            <a:ext cx="10613572" cy="69015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9149" y="790813"/>
            <a:ext cx="12455979" cy="6617196"/>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METHODOLOGY – CORE ALGORITHM</a:t>
            </a:r>
            <a:endPar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IN"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r>
              <a:rPr lang="en-US" sz="3600" b="1" dirty="0">
                <a:latin typeface="Times New Roman" panose="02020603050405020304" pitchFamily="18" charset="0"/>
                <a:cs typeface="Times New Roman" panose="02020603050405020304" pitchFamily="18" charset="0"/>
              </a:rPr>
              <a:t>Convolutional Neural Network (CNN)- YOLO V8</a:t>
            </a:r>
            <a:endParaRPr lang="en-US" sz="3600" b="1" dirty="0">
              <a:latin typeface="Times New Roman" panose="02020603050405020304" pitchFamily="18" charset="0"/>
              <a:cs typeface="Times New Roman" panose="02020603050405020304" pitchFamily="18" charset="0"/>
            </a:endParaRPr>
          </a:p>
          <a:p>
            <a:pPr algn="just">
              <a:lnSpc>
                <a:spcPct val="150000"/>
              </a:lnSpc>
            </a:pPr>
            <a:r>
              <a:rPr lang="en-US" sz="2600" dirty="0">
                <a:latin typeface="Times New Roman" panose="02020603050405020304" pitchFamily="18" charset="0"/>
                <a:cs typeface="Times New Roman" panose="02020603050405020304" pitchFamily="18" charset="0"/>
              </a:rPr>
              <a:t>Convolutional Neural Networks (CNNs) were initially used in the system to classify images as human or animal by extracting features through convolution layers, reducing dimensions using pooling layers, and performing classification with fully connected layers, where </a:t>
            </a:r>
            <a:r>
              <a:rPr lang="en-US" sz="2600" dirty="0" err="1">
                <a:latin typeface="Times New Roman" panose="02020603050405020304" pitchFamily="18" charset="0"/>
                <a:cs typeface="Times New Roman" panose="02020603050405020304" pitchFamily="18" charset="0"/>
              </a:rPr>
              <a:t>softmax</a:t>
            </a:r>
            <a:r>
              <a:rPr lang="en-US" sz="2600" dirty="0">
                <a:latin typeface="Times New Roman" panose="02020603050405020304" pitchFamily="18" charset="0"/>
                <a:cs typeface="Times New Roman" panose="02020603050405020304" pitchFamily="18" charset="0"/>
              </a:rPr>
              <a:t> activation produced the final prediction. However, the approach has been enhanced by adopting YOLOv8, which replaces the traditional CNN classification pipeline with a unified object detection model. YOLOv8 performs feature extraction, localization, and classification in a single step, enabling faster and more accurate real-time detection of humans and animals directly from video streams.</a:t>
            </a:r>
            <a:endParaRPr lang="en-US" sz="26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9150" y="790813"/>
            <a:ext cx="12020550" cy="6986528"/>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METHODOLOGY – ALGORITHM WORKING</a:t>
            </a:r>
            <a:endPar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IN"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r>
              <a:rPr lang="en-US" sz="3600" b="1" dirty="0">
                <a:latin typeface="Times New Roman" panose="02020603050405020304" pitchFamily="18" charset="0"/>
                <a:cs typeface="Times New Roman" panose="02020603050405020304" pitchFamily="18" charset="0"/>
              </a:rPr>
              <a:t>Frame Extraction Algorithm</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Extract frames from video using OpenCV.</a:t>
            </a:r>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Image Resizing Algorithm</a:t>
            </a:r>
            <a:endParaRPr lang="en-IN" sz="36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Bilinear interpolation resizes an image by estimating a new pixel value using the weighted average of its four nearest neighboring pixels.</a:t>
            </a:r>
            <a:endParaRPr lang="en-US" sz="32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Contrast Enhancement Algorithm</a:t>
            </a:r>
            <a:endParaRPr lang="en-IN" sz="3600" b="1"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HOG extracts the distribution of edge directions (gradients) in image regions.</a:t>
            </a:r>
            <a:endParaRPr lang="en-IN" sz="32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Classification Module</a:t>
            </a:r>
            <a:endParaRPr lang="en-IN" sz="3600" b="1" dirty="0">
              <a:latin typeface="Times New Roman" panose="02020603050405020304" pitchFamily="18" charset="0"/>
              <a:cs typeface="Times New Roman" panose="02020603050405020304" pitchFamily="18" charset="0"/>
            </a:endParaRPr>
          </a:p>
          <a:p>
            <a:r>
              <a:rPr lang="en-US" sz="3200" dirty="0" err="1">
                <a:latin typeface="Times New Roman" panose="02020603050405020304" pitchFamily="18" charset="0"/>
                <a:cs typeface="Times New Roman" panose="02020603050405020304" pitchFamily="18" charset="0"/>
              </a:rPr>
              <a:t>Softmax</a:t>
            </a:r>
            <a:r>
              <a:rPr lang="en-US" sz="3200" dirty="0">
                <a:latin typeface="Times New Roman" panose="02020603050405020304" pitchFamily="18" charset="0"/>
                <a:cs typeface="Times New Roman" panose="02020603050405020304" pitchFamily="18" charset="0"/>
              </a:rPr>
              <a:t> converts raw output scores into normalized probability values across multiple classes using an exponential function.</a:t>
            </a:r>
            <a:endParaRPr lang="en-IN" sz="32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3" name="TextBox 2"/>
          <p:cNvSpPr txBox="1"/>
          <p:nvPr/>
        </p:nvSpPr>
        <p:spPr>
          <a:xfrm>
            <a:off x="1028700" y="494079"/>
            <a:ext cx="7315200" cy="923330"/>
          </a:xfrm>
          <a:prstGeom prst="rect">
            <a:avLst/>
          </a:prstGeom>
          <a:noFill/>
        </p:spPr>
        <p:txBody>
          <a:bodyPr wrap="square">
            <a:spAutoFit/>
          </a:bodyPr>
          <a:lstStyle/>
          <a:p>
            <a:pPr lvl="0">
              <a:buClr>
                <a:srgbClr val="000000"/>
              </a:buClr>
              <a:buSzPts val="1400"/>
            </a:pPr>
            <a:r>
              <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MODULES</a:t>
            </a:r>
            <a:endParaRPr lang="en-US" sz="4000" b="1" i="0" u="none" strike="noStrike" cap="none"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US" sz="1400" b="1"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028700" y="1718489"/>
            <a:ext cx="11055912"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arenR"/>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Video Processing Module</a:t>
            </a:r>
            <a:b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Extracts frames from live video streams.</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arenR"/>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 Module</a:t>
            </a:r>
            <a:b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Resizes, normalizes, and prepares images for CNN.</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arenR"/>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Detection Module</a:t>
            </a:r>
            <a:b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custom CNN to classify humans and animals.</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arenR"/>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Module</a:t>
            </a:r>
            <a:b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Sends alerts if human intrusion is detected.</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l" defTabSz="914400" rtl="0" eaLnBrk="0" fontAlgn="base" latinLnBrk="0" hangingPunct="0">
              <a:lnSpc>
                <a:spcPct val="100000"/>
              </a:lnSpc>
              <a:spcBef>
                <a:spcPct val="0"/>
              </a:spcBef>
              <a:spcAft>
                <a:spcPct val="0"/>
              </a:spcAft>
              <a:buClrTx/>
              <a:buSzTx/>
              <a:buFont typeface="+mj-lt"/>
              <a:buAutoNum type="arabicParenR"/>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Dashboard Module</a:t>
            </a:r>
            <a:b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logs, detection history, and system performance.</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3450" y="882134"/>
            <a:ext cx="8839200" cy="707886"/>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TECHNOLOGIES USED</a:t>
            </a:r>
            <a:endParaRPr lang="en-IN" sz="4000" dirty="0"/>
          </a:p>
        </p:txBody>
      </p:sp>
      <p:sp>
        <p:nvSpPr>
          <p:cNvPr id="4" name="Rectangle 1"/>
          <p:cNvSpPr>
            <a:spLocks noChangeArrowheads="1"/>
          </p:cNvSpPr>
          <p:nvPr/>
        </p:nvSpPr>
        <p:spPr bwMode="auto">
          <a:xfrm>
            <a:off x="933450" y="1708993"/>
            <a:ext cx="1287256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r>
              <a:rPr lang="en-IN" sz="3600" b="1" dirty="0">
                <a:latin typeface="Times New Roman" panose="02020603050405020304" pitchFamily="18" charset="0"/>
                <a:cs typeface="Times New Roman" panose="02020603050405020304" pitchFamily="18" charset="0"/>
              </a:rPr>
              <a:t>Programming Language:</a:t>
            </a:r>
            <a:r>
              <a:rPr lang="en-IN" sz="3600" dirty="0">
                <a:latin typeface="Times New Roman" panose="02020603050405020304" pitchFamily="18" charset="0"/>
                <a:cs typeface="Times New Roman" panose="02020603050405020304" pitchFamily="18" charset="0"/>
              </a:rPr>
              <a:t> Python, Kotlin</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Frameworks/Libraries:</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Ultralytics</a:t>
            </a:r>
            <a:r>
              <a:rPr lang="en-IN" sz="3600" dirty="0">
                <a:latin typeface="Times New Roman" panose="02020603050405020304" pitchFamily="18" charset="0"/>
                <a:cs typeface="Times New Roman" panose="02020603050405020304" pitchFamily="18" charset="0"/>
              </a:rPr>
              <a:t>, OpenCV</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Database:</a:t>
            </a:r>
            <a:r>
              <a:rPr lang="en-IN" sz="3600" dirty="0">
                <a:latin typeface="Times New Roman" panose="02020603050405020304" pitchFamily="18" charset="0"/>
                <a:cs typeface="Times New Roman" panose="02020603050405020304" pitchFamily="18" charset="0"/>
              </a:rPr>
              <a:t> MySQL (for storing logs and alerts)</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IDE:</a:t>
            </a:r>
            <a:r>
              <a:rPr lang="en-IN" sz="3600" dirty="0">
                <a:latin typeface="Times New Roman" panose="02020603050405020304" pitchFamily="18" charset="0"/>
                <a:cs typeface="Times New Roman" panose="02020603050405020304" pitchFamily="18" charset="0"/>
              </a:rPr>
              <a:t> VS Code / PyCharm</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Operating System:</a:t>
            </a:r>
            <a:r>
              <a:rPr lang="en-IN" sz="3600" dirty="0">
                <a:latin typeface="Times New Roman" panose="02020603050405020304" pitchFamily="18" charset="0"/>
                <a:cs typeface="Times New Roman" panose="02020603050405020304" pitchFamily="18" charset="0"/>
              </a:rPr>
              <a:t> Windows / Linux</a:t>
            </a:r>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Dataset:</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Custom dataset containing forest images of humans and animals for</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training and testing.</a:t>
            </a:r>
            <a:endParaRPr lang="en-IN" sz="3600" dirty="0">
              <a:latin typeface="Times New Roman" panose="02020603050405020304" pitchFamily="18" charset="0"/>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2"/>
          <p:cNvSpPr txBox="1"/>
          <p:nvPr/>
        </p:nvSpPr>
        <p:spPr>
          <a:xfrm>
            <a:off x="243648" y="390718"/>
            <a:ext cx="13700951" cy="7448163"/>
          </a:xfrm>
          <a:prstGeom prst="rect">
            <a:avLst/>
          </a:prstGeom>
          <a:noFill/>
          <a:ln>
            <a:noFill/>
          </a:ln>
        </p:spPr>
        <p:txBody>
          <a:bodyPr spcFirstLastPara="1" wrap="square" lIns="91425" tIns="91425" rIns="91425" bIns="91425" anchor="t" anchorCtr="0">
            <a:spAutoFit/>
          </a:bodyPr>
          <a:lstStyle/>
          <a:p>
            <a:pPr>
              <a:buClr>
                <a:schemeClr val="dk1"/>
              </a:buClr>
              <a:buSzPts val="1100"/>
            </a:pPr>
            <a:r>
              <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CONCLUSION &amp; FUTURE WORK</a:t>
            </a:r>
            <a:endParaRPr lang="en-US"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pPr>
              <a:buClr>
                <a:schemeClr val="dk1"/>
              </a:buClr>
              <a:buSzPts val="1100"/>
            </a:pPr>
            <a:endParaRPr lang="en-US" sz="3200"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This project presented an AI-based Anti-Poaching Detection System, a smart wildlife monitoring solution that integrates real-time surveillance with deep learning for detecting illegal activities in forest environments. While traditional monitoring methods are slow and unreliable, the proposed system leverages artificial intelligence to automate detection and improve response time. Challenges such as delayed identification, human error, and lack of continuous monitoring were addressed through an intelligent detection pipeline using models like YOLOv8. The implementation demonstrates that AI-based systems can act as proactive monitoring tools rather than passive recording systems.</a:t>
            </a:r>
            <a:endParaRPr lang="en-IN" sz="24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Future Enhancements</a:t>
            </a:r>
            <a:endParaRPr lang="en-IN" sz="36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Night vision support</a:t>
            </a:r>
            <a:endParaRPr lang="en-IN" sz="28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Drone integration	</a:t>
            </a:r>
            <a:endParaRPr lang="en-IN" sz="28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Improved dataset training</a:t>
            </a:r>
            <a:endParaRPr lang="en-IN" sz="2800" dirty="0">
              <a:latin typeface="Times New Roman" panose="02020603050405020304" pitchFamily="18" charset="0"/>
              <a:cs typeface="Times New Roman" panose="02020603050405020304" pitchFamily="18" charset="0"/>
            </a:endParaRPr>
          </a:p>
          <a:p>
            <a:pPr marL="571500" indent="-5715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forest dashboard</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342826"/>
            <a:ext cx="12948557" cy="7886774"/>
          </a:xfrm>
          <a:prstGeom prst="rect">
            <a:avLst/>
          </a:prstGeom>
          <a:noFill/>
        </p:spPr>
        <p:txBody>
          <a:bodyPr wrap="square">
            <a:spAutoFit/>
          </a:bodyPr>
          <a:lstStyle/>
          <a:p>
            <a:r>
              <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REFERENCES</a:t>
            </a:r>
            <a:endParaRPr lang="en-IN" sz="4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IN" b="1" dirty="0">
              <a:solidFill>
                <a:srgbClr val="351C75"/>
              </a:solidFill>
              <a:latin typeface="Times New Roman" panose="02020603050405020304" pitchFamily="18" charset="0"/>
              <a:ea typeface="EB Garamond" panose="00000500000000000000"/>
              <a:cs typeface="Times New Roman" panose="02020603050405020304" pitchFamily="18" charset="0"/>
              <a:sym typeface="EB Garamond" panose="00000500000000000000"/>
            </a:endParaRPr>
          </a:p>
          <a:p>
            <a:endParaRPr lang="en-IN" dirty="0"/>
          </a:p>
          <a:p>
            <a:pPr marL="457200" indent="-457200">
              <a:lnSpc>
                <a:spcPct val="150000"/>
              </a:lnSpc>
              <a:buAutoNum type="arabicPeriod"/>
            </a:pPr>
            <a:r>
              <a:rPr lang="en-IN" sz="2400" dirty="0">
                <a:latin typeface="Times New Roman" panose="02020603050405020304" pitchFamily="18" charset="0"/>
                <a:cs typeface="Times New Roman" panose="02020603050405020304" pitchFamily="18" charset="0"/>
              </a:rPr>
              <a:t>Jocher, G., Chaurasia, A. and Qiu, J. (2023) ‘</a:t>
            </a:r>
            <a:r>
              <a:rPr lang="en-IN" sz="2400" dirty="0" err="1">
                <a:latin typeface="Times New Roman" panose="02020603050405020304" pitchFamily="18" charset="0"/>
                <a:cs typeface="Times New Roman" panose="02020603050405020304" pitchFamily="18" charset="0"/>
              </a:rPr>
              <a:t>Ultralytics</a:t>
            </a:r>
            <a:r>
              <a:rPr lang="en-IN" sz="2400" dirty="0">
                <a:latin typeface="Times New Roman" panose="02020603050405020304" pitchFamily="18" charset="0"/>
                <a:cs typeface="Times New Roman" panose="02020603050405020304" pitchFamily="18" charset="0"/>
              </a:rPr>
              <a:t> YOLOv8’, </a:t>
            </a:r>
            <a:r>
              <a:rPr lang="en-IN" sz="2400" dirty="0" err="1">
                <a:latin typeface="Times New Roman" panose="02020603050405020304" pitchFamily="18" charset="0"/>
                <a:cs typeface="Times New Roman" panose="02020603050405020304" pitchFamily="18" charset="0"/>
              </a:rPr>
              <a:t>Ultralytics</a:t>
            </a:r>
            <a:r>
              <a:rPr lang="en-IN" sz="2400" dirty="0">
                <a:latin typeface="Times New Roman" panose="02020603050405020304" pitchFamily="18" charset="0"/>
                <a:cs typeface="Times New Roman" panose="02020603050405020304" pitchFamily="18" charset="0"/>
              </a:rPr>
              <a:t> Documentation, pp.</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 1–50. </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2. Wang, C.-Y., </a:t>
            </a:r>
            <a:r>
              <a:rPr lang="en-IN" sz="2400" dirty="0" err="1">
                <a:latin typeface="Times New Roman" panose="02020603050405020304" pitchFamily="18" charset="0"/>
                <a:cs typeface="Times New Roman" panose="02020603050405020304" pitchFamily="18" charset="0"/>
              </a:rPr>
              <a:t>Bochkovskiy</a:t>
            </a:r>
            <a:r>
              <a:rPr lang="en-IN" sz="2400" dirty="0">
                <a:latin typeface="Times New Roman" panose="02020603050405020304" pitchFamily="18" charset="0"/>
                <a:cs typeface="Times New Roman" panose="02020603050405020304" pitchFamily="18" charset="0"/>
              </a:rPr>
              <a:t>, A. and Liao, H.-Y.M. (2023) ‘YOLOv7: Trainable Bag-of-Freebies Sets New State-of-the-Art for Real-Time Object Detectors’, IEEE Conference on Computer Vision and Pattern Recognition (CVPR), pp. 7464–7475. </a:t>
            </a:r>
            <a:endParaRPr lang="en-IN"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3. Li, Y., Zhang, X. and Chen, H. (2023) ‘Real-Time Object Detection in Complex Environments Using Deep Learning’, IEEE Access, Vol. 11, pp. 11234–11245. </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4. Kumar, A. and Singh, R. (2023) ‘AI-Based Wildlife Monitoring System Using Computer Vision’, International Journal of Advanced Computer Science and Applications, Vol. 14, No. 2, pp. 210–218. </a:t>
            </a:r>
            <a:endParaRPr lang="en-US" sz="2400" dirty="0">
              <a:latin typeface="Times New Roman" panose="02020603050405020304" pitchFamily="18" charset="0"/>
              <a:cs typeface="Times New Roman" panose="02020603050405020304" pitchFamily="18" charset="0"/>
            </a:endParaRPr>
          </a:p>
          <a:p>
            <a:pPr>
              <a:lnSpc>
                <a:spcPct val="150000"/>
              </a:lnSpc>
            </a:pPr>
            <a:r>
              <a:rPr lang="en-IN" sz="2400" dirty="0">
                <a:latin typeface="Times New Roman" panose="02020603050405020304" pitchFamily="18" charset="0"/>
                <a:cs typeface="Times New Roman" panose="02020603050405020304" pitchFamily="18" charset="0"/>
              </a:rPr>
              <a:t>5. Chen, L., Wu, D. and Zhao, Y. (2024) ‘Deep Learning-Based Surveillance for Wildlife Protection’, IEEE Transactions on Intelligent Systems, Vol. 39, No. 1, pp. 55–67. </a:t>
            </a:r>
            <a:endParaRPr lang="en-IN" sz="24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45782" y="3268471"/>
            <a:ext cx="14516100" cy="1015663"/>
          </a:xfrm>
          <a:prstGeom prst="rect">
            <a:avLst/>
          </a:prstGeom>
          <a:noFill/>
        </p:spPr>
        <p:txBody>
          <a:bodyPr wrap="square">
            <a:spAutoFit/>
          </a:bodyPr>
          <a:lstStyle/>
          <a:p>
            <a:r>
              <a:rPr lang="en-IN" sz="6000" b="1" dirty="0">
                <a:latin typeface="Times New Roman" panose="02020603050405020304" pitchFamily="18" charset="0"/>
                <a:ea typeface="EB Garamond" panose="00000500000000000000"/>
                <a:cs typeface="Times New Roman" panose="02020603050405020304" pitchFamily="18" charset="0"/>
                <a:sym typeface="EB Garamond" panose="00000500000000000000"/>
              </a:rPr>
              <a:t>THANK YOU</a:t>
            </a:r>
            <a:endParaRPr lang="en-IN" sz="6000" b="1" dirty="0">
              <a:latin typeface="Times New Roman" panose="02020603050405020304" pitchFamily="18" charset="0"/>
              <a:ea typeface="EB Garamond" panose="00000500000000000000"/>
              <a:cs typeface="Times New Roman" panose="02020603050405020304" pitchFamily="18" charset="0"/>
              <a:sym typeface="EB Garamond" panose="0000050000000000000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0B37CC420E284DB4FB4D29FDC64965" ma:contentTypeVersion="4" ma:contentTypeDescription="Create a new document." ma:contentTypeScope="" ma:versionID="fe166a724211ef4913d18592e0c2f44a">
  <xsd:schema xmlns:xsd="http://www.w3.org/2001/XMLSchema" xmlns:xs="http://www.w3.org/2001/XMLSchema" xmlns:p="http://schemas.microsoft.com/office/2006/metadata/properties" xmlns:ns3="90c07710-7f56-4ac7-a7bf-99d4cc169ab8" targetNamespace="http://schemas.microsoft.com/office/2006/metadata/properties" ma:root="true" ma:fieldsID="f7295cb26d6578cb04263666418a81ba" ns3:_="">
    <xsd:import namespace="90c07710-7f56-4ac7-a7bf-99d4cc169ab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c07710-7f56-4ac7-a7bf-99d4cc169ab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D15CC33-2167-4B8C-87F9-94878100A5C6}">
  <ds:schemaRefs/>
</ds:datastoreItem>
</file>

<file path=customXml/itemProps2.xml><?xml version="1.0" encoding="utf-8"?>
<ds:datastoreItem xmlns:ds="http://schemas.openxmlformats.org/officeDocument/2006/customXml" ds:itemID="{E24F6AC0-9D81-47C9-A647-12E75F18223F}">
  <ds:schemaRefs/>
</ds:datastoreItem>
</file>

<file path=customXml/itemProps3.xml><?xml version="1.0" encoding="utf-8"?>
<ds:datastoreItem xmlns:ds="http://schemas.openxmlformats.org/officeDocument/2006/customXml" ds:itemID="{07EF592A-2B0E-4AE5-A4E9-59EF57453128}">
  <ds:schemaRefs/>
</ds:datastoreItem>
</file>

<file path=docProps/app.xml><?xml version="1.0" encoding="utf-8"?>
<Properties xmlns="http://schemas.openxmlformats.org/officeDocument/2006/extended-properties" xmlns:vt="http://schemas.openxmlformats.org/officeDocument/2006/docPropsVTypes">
  <TotalTime>0</TotalTime>
  <Words>6217</Words>
  <Application>WPS Presentation</Application>
  <PresentationFormat>Custom</PresentationFormat>
  <Paragraphs>164</Paragraphs>
  <Slides>15</Slides>
  <Notes>5</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15</vt:i4>
      </vt:variant>
    </vt:vector>
  </HeadingPairs>
  <TitlesOfParts>
    <vt:vector size="29" baseType="lpstr">
      <vt:lpstr>Arial</vt:lpstr>
      <vt:lpstr>SimSun</vt:lpstr>
      <vt:lpstr>Wingdings</vt:lpstr>
      <vt:lpstr>Arial</vt:lpstr>
      <vt:lpstr>Calibri</vt:lpstr>
      <vt:lpstr>Times New Roman</vt:lpstr>
      <vt:lpstr>Outfit ExtraBold</vt:lpstr>
      <vt:lpstr>EB Garamond ExtraBold</vt:lpstr>
      <vt:lpstr>EB Garamond</vt:lpstr>
      <vt:lpstr>Arimo</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Karthickeyan T</dc:creator>
  <cp:lastModifiedBy>Mohamed Farhaan</cp:lastModifiedBy>
  <cp:revision>20</cp:revision>
  <dcterms:created xsi:type="dcterms:W3CDTF">2026-05-06T04:59:36Z</dcterms:created>
  <dcterms:modified xsi:type="dcterms:W3CDTF">2026-05-06T08:21:56Z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0x010100450B37CC420E284DB4FB4D29FDC64965</vt:lpwstr>
  </property>
  <property fmtid="{D5CDD505-2E9C-101B-9397-08002B2CF9AE}" pid="3" name="ICV">
    <vt:lpwstr>4A9A31B9158C4B948DCA3F7D3B22A747_12</vt:lpwstr>
  </property>
  <property fmtid="{D5CDD505-2E9C-101B-9397-08002B2CF9AE}" pid="4" name="KSOProductBuildVer">
    <vt:lpwstr>2057-12.2.0.23202</vt:lpwstr>
  </property>
</Properties>
</file>